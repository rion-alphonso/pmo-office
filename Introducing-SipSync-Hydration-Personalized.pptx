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Fira Mono Medium" panose="020B0609050000020004" pitchFamily="49" charset="0"/>
      <p:regular r:id="rId11"/>
    </p:embeddedFont>
    <p:embeddedFont>
      <p:font typeface="Fira Sans" panose="020B0503050000020004" pitchFamily="34" charset="0"/>
      <p:regular r:id="rId12"/>
      <p:bold r:id="rId13"/>
    </p:embeddedFont>
    <p:embeddedFont>
      <p:font typeface="Fira Sans Bold" panose="020B0803050000020004" pitchFamily="34" charset="0"/>
      <p:bold r:id="rId14"/>
    </p:embeddedFont>
    <p:embeddedFont>
      <p:font typeface="Fira Sans Medium" panose="020B0603050000020004" pitchFamily="3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3" d="100"/>
          <a:sy n="53"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7T10:12:43.028"/>
    </inkml:context>
    <inkml:brush xml:id="br0">
      <inkml:brushProperty name="width" value="0.035" units="cm"/>
      <inkml:brushProperty name="height" value="0.035" units="cm"/>
    </inkml:brush>
  </inkml:definitions>
  <inkml:trace contextRef="#ctx0" brushRef="#br0">0 2 24278,'4143'467'0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0848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81B"/>
          </a:solidFill>
          <a:ln/>
        </p:spPr>
      </p:sp>
      <p:sp>
        <p:nvSpPr>
          <p:cNvPr id="3" name="Shape 1"/>
          <p:cNvSpPr/>
          <p:nvPr/>
        </p:nvSpPr>
        <p:spPr>
          <a:xfrm>
            <a:off x="0" y="0"/>
            <a:ext cx="14630400" cy="8229600"/>
          </a:xfrm>
          <a:prstGeom prst="rect">
            <a:avLst/>
          </a:prstGeom>
          <a:solidFill>
            <a:srgbClr val="0F0F1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011204"/>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Introducing SipSync: Hydration, Personalized</a:t>
            </a:r>
            <a:endParaRPr lang="en-US" sz="4450" dirty="0"/>
          </a:p>
        </p:txBody>
      </p:sp>
      <p:sp>
        <p:nvSpPr>
          <p:cNvPr id="4" name="Text 1"/>
          <p:cNvSpPr/>
          <p:nvPr/>
        </p:nvSpPr>
        <p:spPr>
          <a:xfrm>
            <a:off x="6280190" y="4477703"/>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Meet SipSync, the smart water bottle that syncs with your fitness apps. It glows to remind you to drink based on your real-time hydration needs. Experience personalized hydration for a healthier lifestyle.</a:t>
            </a:r>
            <a:endParaRPr lang="en-US" sz="1750" dirty="0"/>
          </a:p>
        </p:txBody>
      </p:sp>
      <p:sp>
        <p:nvSpPr>
          <p:cNvPr id="5" name="Shape 2"/>
          <p:cNvSpPr/>
          <p:nvPr/>
        </p:nvSpPr>
        <p:spPr>
          <a:xfrm>
            <a:off x="6280190" y="5838468"/>
            <a:ext cx="362903" cy="362903"/>
          </a:xfrm>
          <a:prstGeom prst="roundRect">
            <a:avLst>
              <a:gd name="adj" fmla="val 25194296"/>
            </a:avLst>
          </a:prstGeom>
          <a:solidFill>
            <a:srgbClr val="C8589A"/>
          </a:solidFill>
          <a:ln w="7620">
            <a:solidFill>
              <a:srgbClr val="4D4D51"/>
            </a:solidFill>
            <a:prstDash val="solid"/>
          </a:ln>
        </p:spPr>
        <p:txBody>
          <a:bodyPr/>
          <a:lstStyle/>
          <a:p>
            <a:endParaRPr lang="en-US"/>
          </a:p>
        </p:txBody>
      </p:sp>
      <p:sp>
        <p:nvSpPr>
          <p:cNvPr id="6" name="Text 3"/>
          <p:cNvSpPr/>
          <p:nvPr/>
        </p:nvSpPr>
        <p:spPr>
          <a:xfrm>
            <a:off x="6403419" y="5971103"/>
            <a:ext cx="116443" cy="97512"/>
          </a:xfrm>
          <a:prstGeom prst="rect">
            <a:avLst/>
          </a:prstGeom>
          <a:noFill/>
          <a:ln/>
        </p:spPr>
        <p:txBody>
          <a:bodyPr wrap="none" lIns="0" tIns="0" rIns="0" bIns="0" rtlCol="0" anchor="t"/>
          <a:lstStyle/>
          <a:p>
            <a:pPr marL="0" indent="0" algn="ctr">
              <a:lnSpc>
                <a:spcPts val="750"/>
              </a:lnSpc>
              <a:buNone/>
            </a:pPr>
            <a:r>
              <a:rPr lang="en-US" sz="750" dirty="0">
                <a:solidFill>
                  <a:srgbClr val="4D4D51"/>
                </a:solidFill>
                <a:latin typeface="Fira Sans Medium" pitchFamily="34" charset="0"/>
                <a:ea typeface="Fira Sans Medium" pitchFamily="34" charset="-122"/>
                <a:cs typeface="Fira Sans Medium" pitchFamily="34" charset="-120"/>
              </a:rPr>
              <a:t>Ra</a:t>
            </a:r>
            <a:endParaRPr lang="en-US" sz="750" dirty="0"/>
          </a:p>
        </p:txBody>
      </p:sp>
      <p:sp>
        <p:nvSpPr>
          <p:cNvPr id="7" name="Text 4"/>
          <p:cNvSpPr/>
          <p:nvPr/>
        </p:nvSpPr>
        <p:spPr>
          <a:xfrm>
            <a:off x="6756440" y="5821561"/>
            <a:ext cx="2232422" cy="396835"/>
          </a:xfrm>
          <a:prstGeom prst="rect">
            <a:avLst/>
          </a:prstGeom>
          <a:noFill/>
          <a:ln/>
        </p:spPr>
        <p:txBody>
          <a:bodyPr wrap="none" lIns="0" tIns="0" rIns="0" bIns="0" rtlCol="0" anchor="t"/>
          <a:lstStyle/>
          <a:p>
            <a:pPr marL="0" indent="0" algn="l">
              <a:lnSpc>
                <a:spcPts val="3100"/>
              </a:lnSpc>
              <a:buNone/>
            </a:pPr>
            <a:r>
              <a:rPr lang="en-US" sz="2200" b="1" dirty="0">
                <a:solidFill>
                  <a:srgbClr val="E0D6DE"/>
                </a:solidFill>
                <a:latin typeface="Fira Sans Bold" pitchFamily="34" charset="0"/>
                <a:ea typeface="Fira Sans Bold" pitchFamily="34" charset="-122"/>
                <a:cs typeface="Fira Sans Bold" pitchFamily="34" charset="-120"/>
              </a:rPr>
              <a:t>by Rohan and Team</a:t>
            </a:r>
            <a:endParaRPr lang="en-US" sz="2200" dirty="0"/>
          </a:p>
        </p:txBody>
      </p:sp>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62FEFE8D-D60C-1675-7855-9B8AC2100207}"/>
                  </a:ext>
                </a:extLst>
              </p14:cNvPr>
              <p14:cNvContentPartPr/>
              <p14:nvPr/>
            </p14:nvContentPartPr>
            <p14:xfrm flipV="1">
              <a:off x="12957935" y="7916684"/>
              <a:ext cx="1492200" cy="168840"/>
            </p14:xfrm>
          </p:contentPart>
        </mc:Choice>
        <mc:Fallback>
          <p:pic>
            <p:nvPicPr>
              <p:cNvPr id="9" name="Ink 8">
                <a:extLst>
                  <a:ext uri="{FF2B5EF4-FFF2-40B4-BE49-F238E27FC236}">
                    <a16:creationId xmlns:a16="http://schemas.microsoft.com/office/drawing/2014/main" id="{62FEFE8D-D60C-1675-7855-9B8AC2100207}"/>
                  </a:ext>
                </a:extLst>
              </p:cNvPr>
              <p:cNvPicPr/>
              <p:nvPr/>
            </p:nvPicPr>
            <p:blipFill>
              <a:blip r:embed="rId5"/>
              <a:stretch>
                <a:fillRect/>
              </a:stretch>
            </p:blipFill>
            <p:spPr>
              <a:xfrm flipV="1">
                <a:off x="12951814" y="7910551"/>
                <a:ext cx="1504443" cy="181106"/>
              </a:xfrm>
              <a:prstGeom prst="rect">
                <a:avLst/>
              </a:prstGeom>
            </p:spPr>
          </p:pic>
        </mc:Fallback>
      </mc:AlternateContent>
      <p:sp>
        <p:nvSpPr>
          <p:cNvPr id="10" name="Rectangle 9">
            <a:extLst>
              <a:ext uri="{FF2B5EF4-FFF2-40B4-BE49-F238E27FC236}">
                <a16:creationId xmlns:a16="http://schemas.microsoft.com/office/drawing/2014/main" id="{D80164F5-115A-7D35-4E44-77450CB14120}"/>
              </a:ext>
            </a:extLst>
          </p:cNvPr>
          <p:cNvSpPr/>
          <p:nvPr/>
        </p:nvSpPr>
        <p:spPr>
          <a:xfrm>
            <a:off x="12717379" y="7615989"/>
            <a:ext cx="1913021" cy="4695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979170"/>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The Problem: Are You Drinking Enough?</a:t>
            </a:r>
            <a:endParaRPr lang="en-US" sz="4450" dirty="0"/>
          </a:p>
        </p:txBody>
      </p:sp>
      <p:sp>
        <p:nvSpPr>
          <p:cNvPr id="4" name="Text 1"/>
          <p:cNvSpPr/>
          <p:nvPr/>
        </p:nvSpPr>
        <p:spPr>
          <a:xfrm>
            <a:off x="793790" y="2736890"/>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Did you know that 75% of people are chronically dehydrated? Dehydration can lead to fatigue and headaches. It can also reduce your overall performance. Most people underestimate their daily water needs. Current water bottles don't offer intelligent tracking.</a:t>
            </a:r>
            <a:endParaRPr lang="en-US" sz="1750" dirty="0"/>
          </a:p>
        </p:txBody>
      </p:sp>
      <p:sp>
        <p:nvSpPr>
          <p:cNvPr id="5" name="Shape 2"/>
          <p:cNvSpPr/>
          <p:nvPr/>
        </p:nvSpPr>
        <p:spPr>
          <a:xfrm>
            <a:off x="793790" y="4698802"/>
            <a:ext cx="510302" cy="510302"/>
          </a:xfrm>
          <a:prstGeom prst="roundRect">
            <a:avLst>
              <a:gd name="adj" fmla="val 6667"/>
            </a:avLst>
          </a:prstGeom>
          <a:solidFill>
            <a:srgbClr val="2E2E2F"/>
          </a:solidFill>
          <a:ln/>
        </p:spPr>
        <p:txBody>
          <a:bodyPr/>
          <a:lstStyle/>
          <a:p>
            <a:endParaRPr lang="en-US"/>
          </a:p>
        </p:txBody>
      </p:sp>
      <p:sp>
        <p:nvSpPr>
          <p:cNvPr id="6" name="Text 3"/>
          <p:cNvSpPr/>
          <p:nvPr/>
        </p:nvSpPr>
        <p:spPr>
          <a:xfrm>
            <a:off x="1530906" y="469880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Common Issue</a:t>
            </a:r>
            <a:endParaRPr lang="en-US" sz="2200" dirty="0"/>
          </a:p>
        </p:txBody>
      </p:sp>
      <p:sp>
        <p:nvSpPr>
          <p:cNvPr id="7" name="Text 4"/>
          <p:cNvSpPr/>
          <p:nvPr/>
        </p:nvSpPr>
        <p:spPr>
          <a:xfrm>
            <a:off x="1530906" y="5189220"/>
            <a:ext cx="2927747"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75% of people are dehydrated.</a:t>
            </a:r>
            <a:endParaRPr lang="en-US" sz="1750" dirty="0"/>
          </a:p>
        </p:txBody>
      </p:sp>
      <p:sp>
        <p:nvSpPr>
          <p:cNvPr id="8" name="Shape 5"/>
          <p:cNvSpPr/>
          <p:nvPr/>
        </p:nvSpPr>
        <p:spPr>
          <a:xfrm>
            <a:off x="4685467" y="4698802"/>
            <a:ext cx="510302" cy="510302"/>
          </a:xfrm>
          <a:prstGeom prst="roundRect">
            <a:avLst>
              <a:gd name="adj" fmla="val 6667"/>
            </a:avLst>
          </a:prstGeom>
          <a:solidFill>
            <a:srgbClr val="2E2E2F"/>
          </a:solidFill>
          <a:ln/>
        </p:spPr>
        <p:txBody>
          <a:bodyPr/>
          <a:lstStyle/>
          <a:p>
            <a:endParaRPr lang="en-US"/>
          </a:p>
        </p:txBody>
      </p:sp>
      <p:sp>
        <p:nvSpPr>
          <p:cNvPr id="9" name="Text 6"/>
          <p:cNvSpPr/>
          <p:nvPr/>
        </p:nvSpPr>
        <p:spPr>
          <a:xfrm>
            <a:off x="5422583" y="469880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Negative Effects</a:t>
            </a:r>
            <a:endParaRPr lang="en-US" sz="2200" dirty="0"/>
          </a:p>
        </p:txBody>
      </p:sp>
      <p:sp>
        <p:nvSpPr>
          <p:cNvPr id="10" name="Text 7"/>
          <p:cNvSpPr/>
          <p:nvPr/>
        </p:nvSpPr>
        <p:spPr>
          <a:xfrm>
            <a:off x="5422583" y="5189220"/>
            <a:ext cx="2927747"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Leads to fatigue, headaches, and reduced performance.</a:t>
            </a:r>
            <a:endParaRPr lang="en-US" sz="1750" dirty="0"/>
          </a:p>
        </p:txBody>
      </p:sp>
      <p:sp>
        <p:nvSpPr>
          <p:cNvPr id="11" name="Shape 8"/>
          <p:cNvSpPr/>
          <p:nvPr/>
        </p:nvSpPr>
        <p:spPr>
          <a:xfrm>
            <a:off x="793790" y="6396990"/>
            <a:ext cx="510302" cy="510302"/>
          </a:xfrm>
          <a:prstGeom prst="roundRect">
            <a:avLst>
              <a:gd name="adj" fmla="val 6667"/>
            </a:avLst>
          </a:prstGeom>
          <a:solidFill>
            <a:srgbClr val="2E2E2F"/>
          </a:solidFill>
          <a:ln/>
        </p:spPr>
        <p:txBody>
          <a:bodyPr/>
          <a:lstStyle/>
          <a:p>
            <a:endParaRPr lang="en-US"/>
          </a:p>
        </p:txBody>
      </p:sp>
      <p:sp>
        <p:nvSpPr>
          <p:cNvPr id="12" name="Text 9"/>
          <p:cNvSpPr/>
          <p:nvPr/>
        </p:nvSpPr>
        <p:spPr>
          <a:xfrm>
            <a:off x="1530906" y="63969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Lacking Today</a:t>
            </a:r>
            <a:endParaRPr lang="en-US" sz="2200" dirty="0"/>
          </a:p>
        </p:txBody>
      </p:sp>
      <p:sp>
        <p:nvSpPr>
          <p:cNvPr id="13" name="Text 10"/>
          <p:cNvSpPr/>
          <p:nvPr/>
        </p:nvSpPr>
        <p:spPr>
          <a:xfrm>
            <a:off x="1530906" y="6887408"/>
            <a:ext cx="6819305" cy="362903"/>
          </a:xfrm>
          <a:prstGeom prst="rect">
            <a:avLst/>
          </a:prstGeom>
          <a:noFill/>
          <a:ln/>
        </p:spPr>
        <p:txBody>
          <a:bodyPr wrap="non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Existing bottles offer no intelligent tracking.</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4163139"/>
            <a:ext cx="9185077" cy="708779"/>
          </a:xfrm>
          <a:prstGeom prst="rect">
            <a:avLst/>
          </a:prstGeom>
          <a:noFill/>
          <a:ln/>
        </p:spPr>
        <p:txBody>
          <a:bodyPr wrap="none" lIns="0" tIns="0" rIns="0" bIns="0" rtlCol="0" anchor="t"/>
          <a:lstStyle/>
          <a:p>
            <a:pPr marL="0" indent="0" algn="l">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SipSync: The Smart Solution</a:t>
            </a:r>
            <a:endParaRPr lang="en-US" sz="4450" dirty="0"/>
          </a:p>
        </p:txBody>
      </p:sp>
      <p:sp>
        <p:nvSpPr>
          <p:cNvPr id="4" name="Text 1"/>
          <p:cNvSpPr/>
          <p:nvPr/>
        </p:nvSpPr>
        <p:spPr>
          <a:xfrm>
            <a:off x="793790" y="521208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SipSync tracks your water intake. It suggests optimal hydration based on your activity. The bottle glows when it’s time to sip. It syncs with fitness apps like Fitbit and Apple Health.</a:t>
            </a:r>
            <a:endParaRPr lang="en-US" sz="1750" dirty="0"/>
          </a:p>
        </p:txBody>
      </p:sp>
      <p:pic>
        <p:nvPicPr>
          <p:cNvPr id="5" name="Image 1" descr="preencoded.png"/>
          <p:cNvPicPr>
            <a:picLocks noChangeAspect="1"/>
          </p:cNvPicPr>
          <p:nvPr/>
        </p:nvPicPr>
        <p:blipFill>
          <a:blip r:embed="rId4"/>
          <a:stretch>
            <a:fillRect/>
          </a:stretch>
        </p:blipFill>
        <p:spPr>
          <a:xfrm>
            <a:off x="793790" y="6232684"/>
            <a:ext cx="566976" cy="566976"/>
          </a:xfrm>
          <a:prstGeom prst="rect">
            <a:avLst/>
          </a:prstGeom>
        </p:spPr>
      </p:pic>
      <p:sp>
        <p:nvSpPr>
          <p:cNvPr id="6" name="Text 2"/>
          <p:cNvSpPr/>
          <p:nvPr/>
        </p:nvSpPr>
        <p:spPr>
          <a:xfrm>
            <a:off x="1587579" y="6193036"/>
            <a:ext cx="2211705" cy="354330"/>
          </a:xfrm>
          <a:prstGeom prst="rect">
            <a:avLst/>
          </a:prstGeom>
          <a:noFill/>
          <a:ln/>
        </p:spPr>
        <p:txBody>
          <a:bodyPr wrap="non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Tracks Intake</a:t>
            </a:r>
            <a:endParaRPr lang="en-US" sz="2200" dirty="0"/>
          </a:p>
        </p:txBody>
      </p:sp>
      <p:pic>
        <p:nvPicPr>
          <p:cNvPr id="7" name="Image 2" descr="preencoded.png"/>
          <p:cNvPicPr>
            <a:picLocks noChangeAspect="1"/>
          </p:cNvPicPr>
          <p:nvPr/>
        </p:nvPicPr>
        <p:blipFill>
          <a:blip r:embed="rId5"/>
          <a:stretch>
            <a:fillRect/>
          </a:stretch>
        </p:blipFill>
        <p:spPr>
          <a:xfrm>
            <a:off x="4139446" y="6232684"/>
            <a:ext cx="566976" cy="566976"/>
          </a:xfrm>
          <a:prstGeom prst="rect">
            <a:avLst/>
          </a:prstGeom>
        </p:spPr>
      </p:pic>
      <p:sp>
        <p:nvSpPr>
          <p:cNvPr id="8" name="Text 3"/>
          <p:cNvSpPr/>
          <p:nvPr/>
        </p:nvSpPr>
        <p:spPr>
          <a:xfrm>
            <a:off x="4933236" y="6193036"/>
            <a:ext cx="2211824" cy="708660"/>
          </a:xfrm>
          <a:prstGeom prst="rect">
            <a:avLst/>
          </a:prstGeom>
          <a:noFill/>
          <a:ln/>
        </p:spPr>
        <p:txBody>
          <a:bodyPr wrap="squar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Suggests Goals</a:t>
            </a:r>
            <a:endParaRPr lang="en-US" sz="2200" dirty="0"/>
          </a:p>
        </p:txBody>
      </p:sp>
      <p:pic>
        <p:nvPicPr>
          <p:cNvPr id="9" name="Image 3" descr="preencoded.png"/>
          <p:cNvPicPr>
            <a:picLocks noChangeAspect="1"/>
          </p:cNvPicPr>
          <p:nvPr/>
        </p:nvPicPr>
        <p:blipFill>
          <a:blip r:embed="rId6"/>
          <a:stretch>
            <a:fillRect/>
          </a:stretch>
        </p:blipFill>
        <p:spPr>
          <a:xfrm>
            <a:off x="7485221" y="6232684"/>
            <a:ext cx="566976" cy="566976"/>
          </a:xfrm>
          <a:prstGeom prst="rect">
            <a:avLst/>
          </a:prstGeom>
        </p:spPr>
      </p:pic>
      <p:sp>
        <p:nvSpPr>
          <p:cNvPr id="10" name="Text 4"/>
          <p:cNvSpPr/>
          <p:nvPr/>
        </p:nvSpPr>
        <p:spPr>
          <a:xfrm>
            <a:off x="8279011" y="6193036"/>
            <a:ext cx="2211824" cy="708660"/>
          </a:xfrm>
          <a:prstGeom prst="rect">
            <a:avLst/>
          </a:prstGeom>
          <a:noFill/>
          <a:ln/>
        </p:spPr>
        <p:txBody>
          <a:bodyPr wrap="squar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Glows to Remind</a:t>
            </a:r>
            <a:endParaRPr lang="en-US" sz="2200" dirty="0"/>
          </a:p>
        </p:txBody>
      </p:sp>
      <p:pic>
        <p:nvPicPr>
          <p:cNvPr id="11" name="Image 4" descr="preencoded.png"/>
          <p:cNvPicPr>
            <a:picLocks noChangeAspect="1"/>
          </p:cNvPicPr>
          <p:nvPr/>
        </p:nvPicPr>
        <p:blipFill>
          <a:blip r:embed="rId7"/>
          <a:stretch>
            <a:fillRect/>
          </a:stretch>
        </p:blipFill>
        <p:spPr>
          <a:xfrm>
            <a:off x="10830997" y="6232684"/>
            <a:ext cx="566976" cy="566976"/>
          </a:xfrm>
          <a:prstGeom prst="rect">
            <a:avLst/>
          </a:prstGeom>
        </p:spPr>
      </p:pic>
      <p:sp>
        <p:nvSpPr>
          <p:cNvPr id="12" name="Text 5"/>
          <p:cNvSpPr/>
          <p:nvPr/>
        </p:nvSpPr>
        <p:spPr>
          <a:xfrm>
            <a:off x="11624786" y="6193036"/>
            <a:ext cx="2211824" cy="354330"/>
          </a:xfrm>
          <a:prstGeom prst="rect">
            <a:avLst/>
          </a:prstGeom>
          <a:noFill/>
          <a:ln/>
        </p:spPr>
        <p:txBody>
          <a:bodyPr wrap="non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Seamless Sync</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970127"/>
            <a:ext cx="7824311" cy="708779"/>
          </a:xfrm>
          <a:prstGeom prst="rect">
            <a:avLst/>
          </a:prstGeom>
          <a:noFill/>
          <a:ln/>
        </p:spPr>
        <p:txBody>
          <a:bodyPr wrap="none" lIns="0" tIns="0" rIns="0" bIns="0" rtlCol="0" anchor="t"/>
          <a:lstStyle/>
          <a:p>
            <a:pPr marL="0" indent="0" algn="l">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Key Features &amp; Benefits</a:t>
            </a:r>
            <a:endParaRPr lang="en-US" sz="4450" dirty="0"/>
          </a:p>
        </p:txBody>
      </p:sp>
      <p:sp>
        <p:nvSpPr>
          <p:cNvPr id="3" name="Text 1"/>
          <p:cNvSpPr/>
          <p:nvPr/>
        </p:nvSpPr>
        <p:spPr>
          <a:xfrm>
            <a:off x="793790" y="3245882"/>
            <a:ext cx="3060502" cy="354330"/>
          </a:xfrm>
          <a:prstGeom prst="rect">
            <a:avLst/>
          </a:prstGeom>
          <a:noFill/>
          <a:ln/>
        </p:spPr>
        <p:txBody>
          <a:bodyPr wrap="none" lIns="0" tIns="0" rIns="0" bIns="0" rtlCol="0" anchor="t"/>
          <a:lstStyle/>
          <a:p>
            <a:pPr marL="0" indent="0" algn="l">
              <a:lnSpc>
                <a:spcPts val="2750"/>
              </a:lnSpc>
              <a:buNone/>
            </a:pPr>
            <a:r>
              <a:rPr lang="en-US" sz="2200" dirty="0">
                <a:solidFill>
                  <a:srgbClr val="FBF3FA"/>
                </a:solidFill>
                <a:latin typeface="Fira Mono Medium" pitchFamily="34" charset="0"/>
                <a:ea typeface="Fira Mono Medium" pitchFamily="34" charset="-122"/>
                <a:cs typeface="Fira Mono Medium" pitchFamily="34" charset="-120"/>
              </a:rPr>
              <a:t>Real-Time Tracking</a:t>
            </a:r>
            <a:endParaRPr lang="en-US" sz="2200" dirty="0"/>
          </a:p>
        </p:txBody>
      </p:sp>
      <p:sp>
        <p:nvSpPr>
          <p:cNvPr id="4" name="Text 2"/>
          <p:cNvSpPr/>
          <p:nvPr/>
        </p:nvSpPr>
        <p:spPr>
          <a:xfrm>
            <a:off x="793790" y="3827026"/>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99% accuracy in monitoring water intake.</a:t>
            </a:r>
            <a:endParaRPr lang="en-US" sz="1750" dirty="0"/>
          </a:p>
        </p:txBody>
      </p:sp>
      <p:sp>
        <p:nvSpPr>
          <p:cNvPr id="5" name="Text 3"/>
          <p:cNvSpPr/>
          <p:nvPr/>
        </p:nvSpPr>
        <p:spPr>
          <a:xfrm>
            <a:off x="5332928" y="3245882"/>
            <a:ext cx="3230523" cy="354330"/>
          </a:xfrm>
          <a:prstGeom prst="rect">
            <a:avLst/>
          </a:prstGeom>
          <a:noFill/>
          <a:ln/>
        </p:spPr>
        <p:txBody>
          <a:bodyPr wrap="none" lIns="0" tIns="0" rIns="0" bIns="0" rtlCol="0" anchor="t"/>
          <a:lstStyle/>
          <a:p>
            <a:pPr marL="0" indent="0" algn="l">
              <a:lnSpc>
                <a:spcPts val="2750"/>
              </a:lnSpc>
              <a:buNone/>
            </a:pPr>
            <a:r>
              <a:rPr lang="en-US" sz="2200" dirty="0">
                <a:solidFill>
                  <a:srgbClr val="FBF3FA"/>
                </a:solidFill>
                <a:latin typeface="Fira Mono Medium" pitchFamily="34" charset="0"/>
                <a:ea typeface="Fira Mono Medium" pitchFamily="34" charset="-122"/>
                <a:cs typeface="Fira Mono Medium" pitchFamily="34" charset="-120"/>
              </a:rPr>
              <a:t>Personalized Advice</a:t>
            </a:r>
            <a:endParaRPr lang="en-US" sz="2200" dirty="0"/>
          </a:p>
        </p:txBody>
      </p:sp>
      <p:sp>
        <p:nvSpPr>
          <p:cNvPr id="6" name="Text 4"/>
          <p:cNvSpPr/>
          <p:nvPr/>
        </p:nvSpPr>
        <p:spPr>
          <a:xfrm>
            <a:off x="5332928" y="3827026"/>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Custom hydration recommendations based on your data.</a:t>
            </a:r>
            <a:endParaRPr lang="en-US" sz="1750" dirty="0"/>
          </a:p>
        </p:txBody>
      </p:sp>
      <p:sp>
        <p:nvSpPr>
          <p:cNvPr id="7" name="Text 5"/>
          <p:cNvSpPr/>
          <p:nvPr/>
        </p:nvSpPr>
        <p:spPr>
          <a:xfrm>
            <a:off x="9872067" y="324588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BF3FA"/>
                </a:solidFill>
                <a:latin typeface="Fira Mono Medium" pitchFamily="34" charset="0"/>
                <a:ea typeface="Fira Mono Medium" pitchFamily="34" charset="-122"/>
                <a:cs typeface="Fira Mono Medium" pitchFamily="34" charset="-120"/>
              </a:rPr>
              <a:t>Glow Reminders</a:t>
            </a:r>
            <a:endParaRPr lang="en-US" sz="2200" dirty="0"/>
          </a:p>
        </p:txBody>
      </p:sp>
      <p:sp>
        <p:nvSpPr>
          <p:cNvPr id="8" name="Text 6"/>
          <p:cNvSpPr/>
          <p:nvPr/>
        </p:nvSpPr>
        <p:spPr>
          <a:xfrm>
            <a:off x="9872067" y="3827026"/>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Customizable colors to remind you to drink.</a:t>
            </a:r>
            <a:endParaRPr lang="en-US" sz="1750" dirty="0"/>
          </a:p>
        </p:txBody>
      </p:sp>
      <p:sp>
        <p:nvSpPr>
          <p:cNvPr id="9" name="Text 7"/>
          <p:cNvSpPr/>
          <p:nvPr/>
        </p:nvSpPr>
        <p:spPr>
          <a:xfrm>
            <a:off x="793790" y="501205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Durable, BPA-free construction</a:t>
            </a:r>
            <a:endParaRPr lang="en-US" sz="1750" dirty="0"/>
          </a:p>
        </p:txBody>
      </p:sp>
      <p:sp>
        <p:nvSpPr>
          <p:cNvPr id="10" name="Text 8"/>
          <p:cNvSpPr/>
          <p:nvPr/>
        </p:nvSpPr>
        <p:spPr>
          <a:xfrm>
            <a:off x="793790" y="545425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Long-lasting battery (up to 7 days)</a:t>
            </a:r>
            <a:endParaRPr lang="en-US" sz="1750" dirty="0"/>
          </a:p>
        </p:txBody>
      </p:sp>
      <p:sp>
        <p:nvSpPr>
          <p:cNvPr id="11" name="Text 9"/>
          <p:cNvSpPr/>
          <p:nvPr/>
        </p:nvSpPr>
        <p:spPr>
          <a:xfrm>
            <a:off x="793790" y="5896451"/>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0D6DE"/>
                </a:solidFill>
                <a:latin typeface="Fira Sans" pitchFamily="34" charset="0"/>
                <a:ea typeface="Fira Sans" pitchFamily="34" charset="-122"/>
                <a:cs typeface="Fira Sans" pitchFamily="34" charset="-120"/>
              </a:rPr>
              <a:t>Sleek design and easy to clean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966430"/>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Target Market: Who Needs SipSync?</a:t>
            </a:r>
            <a:endParaRPr lang="en-US" sz="4450" dirty="0"/>
          </a:p>
        </p:txBody>
      </p:sp>
      <p:sp>
        <p:nvSpPr>
          <p:cNvPr id="4" name="Shape 1"/>
          <p:cNvSpPr/>
          <p:nvPr/>
        </p:nvSpPr>
        <p:spPr>
          <a:xfrm>
            <a:off x="6280190" y="2724150"/>
            <a:ext cx="3664863" cy="2024182"/>
          </a:xfrm>
          <a:prstGeom prst="roundRect">
            <a:avLst>
              <a:gd name="adj" fmla="val 1681"/>
            </a:avLst>
          </a:prstGeom>
          <a:solidFill>
            <a:srgbClr val="2E2E2F"/>
          </a:solidFill>
          <a:ln/>
        </p:spPr>
        <p:txBody>
          <a:bodyPr/>
          <a:lstStyle/>
          <a:p>
            <a:endParaRPr lang="en-US"/>
          </a:p>
        </p:txBody>
      </p:sp>
      <p:sp>
        <p:nvSpPr>
          <p:cNvPr id="5" name="Text 2"/>
          <p:cNvSpPr/>
          <p:nvPr/>
        </p:nvSpPr>
        <p:spPr>
          <a:xfrm>
            <a:off x="6507004" y="2950964"/>
            <a:ext cx="3211235" cy="708660"/>
          </a:xfrm>
          <a:prstGeom prst="rect">
            <a:avLst/>
          </a:prstGeom>
          <a:noFill/>
          <a:ln/>
        </p:spPr>
        <p:txBody>
          <a:bodyPr wrap="squar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Fitness Enthusiasts</a:t>
            </a:r>
            <a:endParaRPr lang="en-US" sz="2200" dirty="0"/>
          </a:p>
        </p:txBody>
      </p:sp>
      <p:sp>
        <p:nvSpPr>
          <p:cNvPr id="6" name="Text 3"/>
          <p:cNvSpPr/>
          <p:nvPr/>
        </p:nvSpPr>
        <p:spPr>
          <a:xfrm>
            <a:off x="6507004" y="3795713"/>
            <a:ext cx="3211235"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Optimize performance and recovery.</a:t>
            </a:r>
            <a:endParaRPr lang="en-US" sz="1750" dirty="0"/>
          </a:p>
        </p:txBody>
      </p:sp>
      <p:sp>
        <p:nvSpPr>
          <p:cNvPr id="7" name="Shape 4"/>
          <p:cNvSpPr/>
          <p:nvPr/>
        </p:nvSpPr>
        <p:spPr>
          <a:xfrm>
            <a:off x="10171867" y="2724150"/>
            <a:ext cx="3664863" cy="2024182"/>
          </a:xfrm>
          <a:prstGeom prst="roundRect">
            <a:avLst>
              <a:gd name="adj" fmla="val 1681"/>
            </a:avLst>
          </a:prstGeom>
          <a:solidFill>
            <a:srgbClr val="2E2E2F"/>
          </a:solidFill>
          <a:ln/>
        </p:spPr>
        <p:txBody>
          <a:bodyPr/>
          <a:lstStyle/>
          <a:p>
            <a:endParaRPr lang="en-US"/>
          </a:p>
        </p:txBody>
      </p:sp>
      <p:sp>
        <p:nvSpPr>
          <p:cNvPr id="8" name="Text 5"/>
          <p:cNvSpPr/>
          <p:nvPr/>
        </p:nvSpPr>
        <p:spPr>
          <a:xfrm>
            <a:off x="10398681" y="2950964"/>
            <a:ext cx="3211235" cy="708660"/>
          </a:xfrm>
          <a:prstGeom prst="rect">
            <a:avLst/>
          </a:prstGeom>
          <a:noFill/>
          <a:ln/>
        </p:spPr>
        <p:txBody>
          <a:bodyPr wrap="squar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Working Professionals</a:t>
            </a:r>
            <a:endParaRPr lang="en-US" sz="2200" dirty="0"/>
          </a:p>
        </p:txBody>
      </p:sp>
      <p:sp>
        <p:nvSpPr>
          <p:cNvPr id="9" name="Text 6"/>
          <p:cNvSpPr/>
          <p:nvPr/>
        </p:nvSpPr>
        <p:spPr>
          <a:xfrm>
            <a:off x="10398681" y="3795713"/>
            <a:ext cx="3211235" cy="362903"/>
          </a:xfrm>
          <a:prstGeom prst="rect">
            <a:avLst/>
          </a:prstGeom>
          <a:noFill/>
          <a:ln/>
        </p:spPr>
        <p:txBody>
          <a:bodyPr wrap="non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Stay focused and energized.</a:t>
            </a:r>
            <a:endParaRPr lang="en-US" sz="1750" dirty="0"/>
          </a:p>
        </p:txBody>
      </p:sp>
      <p:sp>
        <p:nvSpPr>
          <p:cNvPr id="10" name="Shape 7"/>
          <p:cNvSpPr/>
          <p:nvPr/>
        </p:nvSpPr>
        <p:spPr>
          <a:xfrm>
            <a:off x="6280190" y="4975146"/>
            <a:ext cx="7556421" cy="1306949"/>
          </a:xfrm>
          <a:prstGeom prst="roundRect">
            <a:avLst>
              <a:gd name="adj" fmla="val 2603"/>
            </a:avLst>
          </a:prstGeom>
          <a:solidFill>
            <a:srgbClr val="2E2E2F"/>
          </a:solidFill>
          <a:ln/>
        </p:spPr>
        <p:txBody>
          <a:bodyPr/>
          <a:lstStyle/>
          <a:p>
            <a:endParaRPr lang="en-US"/>
          </a:p>
        </p:txBody>
      </p:sp>
      <p:sp>
        <p:nvSpPr>
          <p:cNvPr id="11" name="Text 8"/>
          <p:cNvSpPr/>
          <p:nvPr/>
        </p:nvSpPr>
        <p:spPr>
          <a:xfrm>
            <a:off x="6507004" y="520196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Athletes</a:t>
            </a:r>
            <a:endParaRPr lang="en-US" sz="2200" dirty="0"/>
          </a:p>
        </p:txBody>
      </p:sp>
      <p:sp>
        <p:nvSpPr>
          <p:cNvPr id="12" name="Text 9"/>
          <p:cNvSpPr/>
          <p:nvPr/>
        </p:nvSpPr>
        <p:spPr>
          <a:xfrm>
            <a:off x="6507004" y="5692378"/>
            <a:ext cx="7102793" cy="362903"/>
          </a:xfrm>
          <a:prstGeom prst="rect">
            <a:avLst/>
          </a:prstGeom>
          <a:noFill/>
          <a:ln/>
        </p:spPr>
        <p:txBody>
          <a:bodyPr wrap="non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Maintain peak hydration.</a:t>
            </a:r>
            <a:endParaRPr lang="en-US" sz="1750" dirty="0"/>
          </a:p>
        </p:txBody>
      </p:sp>
      <p:sp>
        <p:nvSpPr>
          <p:cNvPr id="13" name="Text 10"/>
          <p:cNvSpPr/>
          <p:nvPr/>
        </p:nvSpPr>
        <p:spPr>
          <a:xfrm>
            <a:off x="6280190" y="6537246"/>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SipSync is the perfect hydration companion. It can help you manage your well-being.</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29350" y="753189"/>
            <a:ext cx="7658100" cy="1326594"/>
          </a:xfrm>
          <a:prstGeom prst="rect">
            <a:avLst/>
          </a:prstGeom>
          <a:noFill/>
          <a:ln/>
        </p:spPr>
        <p:txBody>
          <a:bodyPr wrap="square" lIns="0" tIns="0" rIns="0" bIns="0" rtlCol="0" anchor="t"/>
          <a:lstStyle/>
          <a:p>
            <a:pPr marL="0" indent="0" algn="l">
              <a:lnSpc>
                <a:spcPts val="5200"/>
              </a:lnSpc>
              <a:buNone/>
            </a:pPr>
            <a:r>
              <a:rPr lang="en-US" sz="4150" dirty="0">
                <a:solidFill>
                  <a:srgbClr val="FBF3FA"/>
                </a:solidFill>
                <a:latin typeface="Fira Mono Medium" pitchFamily="34" charset="0"/>
                <a:ea typeface="Fira Mono Medium" pitchFamily="34" charset="-122"/>
                <a:cs typeface="Fira Mono Medium" pitchFamily="34" charset="-120"/>
              </a:rPr>
              <a:t>Marketing Strategy: Reaching Our Audience</a:t>
            </a:r>
            <a:endParaRPr lang="en-US" sz="4150" dirty="0"/>
          </a:p>
        </p:txBody>
      </p:sp>
      <p:sp>
        <p:nvSpPr>
          <p:cNvPr id="4" name="Text 1"/>
          <p:cNvSpPr/>
          <p:nvPr/>
        </p:nvSpPr>
        <p:spPr>
          <a:xfrm>
            <a:off x="6229350" y="2398157"/>
            <a:ext cx="7658100" cy="1018699"/>
          </a:xfrm>
          <a:prstGeom prst="rect">
            <a:avLst/>
          </a:prstGeom>
          <a:noFill/>
          <a:ln/>
        </p:spPr>
        <p:txBody>
          <a:bodyPr wrap="square" lIns="0" tIns="0" rIns="0" bIns="0" rtlCol="0" anchor="t"/>
          <a:lstStyle/>
          <a:p>
            <a:pPr marL="0" indent="0" algn="l">
              <a:lnSpc>
                <a:spcPts val="2650"/>
              </a:lnSpc>
              <a:buNone/>
            </a:pPr>
            <a:r>
              <a:rPr lang="en-US" sz="1650" dirty="0">
                <a:solidFill>
                  <a:srgbClr val="E0D6DE"/>
                </a:solidFill>
                <a:latin typeface="Fira Sans" pitchFamily="34" charset="0"/>
                <a:ea typeface="Fira Sans" pitchFamily="34" charset="-122"/>
                <a:cs typeface="Fira Sans" pitchFamily="34" charset="-120"/>
              </a:rPr>
              <a:t>Our marketing strategy includes social media campaigns. It also includes content marketing and partnerships. We also use email marketing and affiliate programs. We'll showcase SipSync during training and competition.</a:t>
            </a:r>
            <a:endParaRPr lang="en-US" sz="1650" dirty="0"/>
          </a:p>
        </p:txBody>
      </p:sp>
      <p:pic>
        <p:nvPicPr>
          <p:cNvPr id="5" name="Image 1" descr="preencoded.png"/>
          <p:cNvPicPr>
            <a:picLocks noChangeAspect="1"/>
          </p:cNvPicPr>
          <p:nvPr/>
        </p:nvPicPr>
        <p:blipFill>
          <a:blip r:embed="rId4"/>
          <a:stretch>
            <a:fillRect/>
          </a:stretch>
        </p:blipFill>
        <p:spPr>
          <a:xfrm>
            <a:off x="6229350" y="3655576"/>
            <a:ext cx="1061323" cy="1273612"/>
          </a:xfrm>
          <a:prstGeom prst="rect">
            <a:avLst/>
          </a:prstGeom>
        </p:spPr>
      </p:pic>
      <p:sp>
        <p:nvSpPr>
          <p:cNvPr id="6" name="Text 2"/>
          <p:cNvSpPr/>
          <p:nvPr/>
        </p:nvSpPr>
        <p:spPr>
          <a:xfrm>
            <a:off x="7609046" y="3867745"/>
            <a:ext cx="2653427" cy="331708"/>
          </a:xfrm>
          <a:prstGeom prst="rect">
            <a:avLst/>
          </a:prstGeom>
          <a:noFill/>
          <a:ln/>
        </p:spPr>
        <p:txBody>
          <a:bodyPr wrap="none" lIns="0" tIns="0" rIns="0" bIns="0" rtlCol="0" anchor="t"/>
          <a:lstStyle/>
          <a:p>
            <a:pPr marL="0" indent="0" algn="l">
              <a:lnSpc>
                <a:spcPts val="2600"/>
              </a:lnSpc>
              <a:buNone/>
            </a:pPr>
            <a:r>
              <a:rPr lang="en-US" sz="2050" dirty="0">
                <a:solidFill>
                  <a:srgbClr val="E0D6DE"/>
                </a:solidFill>
                <a:latin typeface="Fira Mono Medium" pitchFamily="34" charset="0"/>
                <a:ea typeface="Fira Mono Medium" pitchFamily="34" charset="-122"/>
                <a:cs typeface="Fira Mono Medium" pitchFamily="34" charset="-120"/>
              </a:rPr>
              <a:t>Social Media</a:t>
            </a:r>
            <a:endParaRPr lang="en-US" sz="2050" dirty="0"/>
          </a:p>
        </p:txBody>
      </p:sp>
      <p:sp>
        <p:nvSpPr>
          <p:cNvPr id="7" name="Text 3"/>
          <p:cNvSpPr/>
          <p:nvPr/>
        </p:nvSpPr>
        <p:spPr>
          <a:xfrm>
            <a:off x="7609046" y="4326731"/>
            <a:ext cx="6278404" cy="339566"/>
          </a:xfrm>
          <a:prstGeom prst="rect">
            <a:avLst/>
          </a:prstGeom>
          <a:noFill/>
          <a:ln/>
        </p:spPr>
        <p:txBody>
          <a:bodyPr wrap="none" lIns="0" tIns="0" rIns="0" bIns="0" rtlCol="0" anchor="t"/>
          <a:lstStyle/>
          <a:p>
            <a:pPr marL="0" indent="0" algn="l">
              <a:lnSpc>
                <a:spcPts val="2650"/>
              </a:lnSpc>
              <a:buNone/>
            </a:pPr>
            <a:r>
              <a:rPr lang="en-US" sz="1650" dirty="0">
                <a:solidFill>
                  <a:srgbClr val="E0D6DE"/>
                </a:solidFill>
                <a:latin typeface="Fira Sans" pitchFamily="34" charset="0"/>
                <a:ea typeface="Fira Sans" pitchFamily="34" charset="-122"/>
                <a:cs typeface="Fira Sans" pitchFamily="34" charset="-120"/>
              </a:rPr>
              <a:t>Targeted ads and influencers</a:t>
            </a:r>
            <a:endParaRPr lang="en-US" sz="1650" dirty="0"/>
          </a:p>
        </p:txBody>
      </p:sp>
      <p:pic>
        <p:nvPicPr>
          <p:cNvPr id="8" name="Image 2" descr="preencoded.png"/>
          <p:cNvPicPr>
            <a:picLocks noChangeAspect="1"/>
          </p:cNvPicPr>
          <p:nvPr/>
        </p:nvPicPr>
        <p:blipFill>
          <a:blip r:embed="rId5"/>
          <a:stretch>
            <a:fillRect/>
          </a:stretch>
        </p:blipFill>
        <p:spPr>
          <a:xfrm>
            <a:off x="6229350" y="4929188"/>
            <a:ext cx="1061323" cy="1273612"/>
          </a:xfrm>
          <a:prstGeom prst="rect">
            <a:avLst/>
          </a:prstGeom>
        </p:spPr>
      </p:pic>
      <p:sp>
        <p:nvSpPr>
          <p:cNvPr id="9" name="Text 4"/>
          <p:cNvSpPr/>
          <p:nvPr/>
        </p:nvSpPr>
        <p:spPr>
          <a:xfrm>
            <a:off x="7609046" y="5141357"/>
            <a:ext cx="2653427" cy="331708"/>
          </a:xfrm>
          <a:prstGeom prst="rect">
            <a:avLst/>
          </a:prstGeom>
          <a:noFill/>
          <a:ln/>
        </p:spPr>
        <p:txBody>
          <a:bodyPr wrap="none" lIns="0" tIns="0" rIns="0" bIns="0" rtlCol="0" anchor="t"/>
          <a:lstStyle/>
          <a:p>
            <a:pPr marL="0" indent="0" algn="l">
              <a:lnSpc>
                <a:spcPts val="2600"/>
              </a:lnSpc>
              <a:buNone/>
            </a:pPr>
            <a:r>
              <a:rPr lang="en-US" sz="2050" dirty="0">
                <a:solidFill>
                  <a:srgbClr val="E0D6DE"/>
                </a:solidFill>
                <a:latin typeface="Fira Mono Medium" pitchFamily="34" charset="0"/>
                <a:ea typeface="Fira Mono Medium" pitchFamily="34" charset="-122"/>
                <a:cs typeface="Fira Mono Medium" pitchFamily="34" charset="-120"/>
              </a:rPr>
              <a:t>Content</a:t>
            </a:r>
            <a:endParaRPr lang="en-US" sz="2050" dirty="0"/>
          </a:p>
        </p:txBody>
      </p:sp>
      <p:sp>
        <p:nvSpPr>
          <p:cNvPr id="10" name="Text 5"/>
          <p:cNvSpPr/>
          <p:nvPr/>
        </p:nvSpPr>
        <p:spPr>
          <a:xfrm>
            <a:off x="7609046" y="5600343"/>
            <a:ext cx="6278404" cy="339566"/>
          </a:xfrm>
          <a:prstGeom prst="rect">
            <a:avLst/>
          </a:prstGeom>
          <a:noFill/>
          <a:ln/>
        </p:spPr>
        <p:txBody>
          <a:bodyPr wrap="none" lIns="0" tIns="0" rIns="0" bIns="0" rtlCol="0" anchor="t"/>
          <a:lstStyle/>
          <a:p>
            <a:pPr marL="0" indent="0" algn="l">
              <a:lnSpc>
                <a:spcPts val="2650"/>
              </a:lnSpc>
              <a:buNone/>
            </a:pPr>
            <a:r>
              <a:rPr lang="en-US" sz="1650" dirty="0">
                <a:solidFill>
                  <a:srgbClr val="E0D6DE"/>
                </a:solidFill>
                <a:latin typeface="Fira Sans" pitchFamily="34" charset="0"/>
                <a:ea typeface="Fira Sans" pitchFamily="34" charset="-122"/>
                <a:cs typeface="Fira Sans" pitchFamily="34" charset="-120"/>
              </a:rPr>
              <a:t>Blog posts and articles</a:t>
            </a:r>
            <a:endParaRPr lang="en-US" sz="1650" dirty="0"/>
          </a:p>
        </p:txBody>
      </p:sp>
      <p:pic>
        <p:nvPicPr>
          <p:cNvPr id="11" name="Image 3" descr="preencoded.png"/>
          <p:cNvPicPr>
            <a:picLocks noChangeAspect="1"/>
          </p:cNvPicPr>
          <p:nvPr/>
        </p:nvPicPr>
        <p:blipFill>
          <a:blip r:embed="rId6"/>
          <a:stretch>
            <a:fillRect/>
          </a:stretch>
        </p:blipFill>
        <p:spPr>
          <a:xfrm>
            <a:off x="6229350" y="6202799"/>
            <a:ext cx="1061323" cy="1273612"/>
          </a:xfrm>
          <a:prstGeom prst="rect">
            <a:avLst/>
          </a:prstGeom>
        </p:spPr>
      </p:pic>
      <p:sp>
        <p:nvSpPr>
          <p:cNvPr id="12" name="Text 6"/>
          <p:cNvSpPr/>
          <p:nvPr/>
        </p:nvSpPr>
        <p:spPr>
          <a:xfrm>
            <a:off x="7609046" y="6414968"/>
            <a:ext cx="2653427" cy="331708"/>
          </a:xfrm>
          <a:prstGeom prst="rect">
            <a:avLst/>
          </a:prstGeom>
          <a:noFill/>
          <a:ln/>
        </p:spPr>
        <p:txBody>
          <a:bodyPr wrap="none" lIns="0" tIns="0" rIns="0" bIns="0" rtlCol="0" anchor="t"/>
          <a:lstStyle/>
          <a:p>
            <a:pPr marL="0" indent="0" algn="l">
              <a:lnSpc>
                <a:spcPts val="2600"/>
              </a:lnSpc>
              <a:buNone/>
            </a:pPr>
            <a:r>
              <a:rPr lang="en-US" sz="2050" dirty="0">
                <a:solidFill>
                  <a:srgbClr val="E0D6DE"/>
                </a:solidFill>
                <a:latin typeface="Fira Mono Medium" pitchFamily="34" charset="0"/>
                <a:ea typeface="Fira Mono Medium" pitchFamily="34" charset="-122"/>
                <a:cs typeface="Fira Mono Medium" pitchFamily="34" charset="-120"/>
              </a:rPr>
              <a:t>Partnerships</a:t>
            </a:r>
            <a:endParaRPr lang="en-US" sz="2050" dirty="0"/>
          </a:p>
        </p:txBody>
      </p:sp>
      <p:sp>
        <p:nvSpPr>
          <p:cNvPr id="13" name="Text 7"/>
          <p:cNvSpPr/>
          <p:nvPr/>
        </p:nvSpPr>
        <p:spPr>
          <a:xfrm>
            <a:off x="7609046" y="6873954"/>
            <a:ext cx="6278404" cy="339566"/>
          </a:xfrm>
          <a:prstGeom prst="rect">
            <a:avLst/>
          </a:prstGeom>
          <a:noFill/>
          <a:ln/>
        </p:spPr>
        <p:txBody>
          <a:bodyPr wrap="none" lIns="0" tIns="0" rIns="0" bIns="0" rtlCol="0" anchor="t"/>
          <a:lstStyle/>
          <a:p>
            <a:pPr marL="0" indent="0" algn="l">
              <a:lnSpc>
                <a:spcPts val="2650"/>
              </a:lnSpc>
              <a:buNone/>
            </a:pPr>
            <a:r>
              <a:rPr lang="en-US" sz="1650" dirty="0">
                <a:solidFill>
                  <a:srgbClr val="E0D6DE"/>
                </a:solidFill>
                <a:latin typeface="Fira Sans" pitchFamily="34" charset="0"/>
                <a:ea typeface="Fira Sans" pitchFamily="34" charset="-122"/>
                <a:cs typeface="Fira Sans" pitchFamily="34" charset="-120"/>
              </a:rPr>
              <a:t>Gyms, studios, and orgs</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767733"/>
            <a:ext cx="6123384" cy="708779"/>
          </a:xfrm>
          <a:prstGeom prst="rect">
            <a:avLst/>
          </a:prstGeom>
          <a:noFill/>
          <a:ln/>
        </p:spPr>
        <p:txBody>
          <a:bodyPr wrap="none" lIns="0" tIns="0" rIns="0" bIns="0" rtlCol="0" anchor="t"/>
          <a:lstStyle/>
          <a:p>
            <a:pPr marL="0" indent="0" algn="l">
              <a:lnSpc>
                <a:spcPts val="5550"/>
              </a:lnSpc>
              <a:buNone/>
            </a:pPr>
            <a:r>
              <a:rPr lang="en-US" sz="4450" dirty="0">
                <a:solidFill>
                  <a:srgbClr val="FBF3FA"/>
                </a:solidFill>
                <a:latin typeface="Fira Mono Medium" pitchFamily="34" charset="0"/>
                <a:ea typeface="Fira Mono Medium" pitchFamily="34" charset="-122"/>
                <a:cs typeface="Fira Mono Medium" pitchFamily="34" charset="-120"/>
              </a:rPr>
              <a:t>Investment and ROI</a:t>
            </a:r>
            <a:endParaRPr lang="en-US" sz="4450" dirty="0"/>
          </a:p>
        </p:txBody>
      </p:sp>
      <p:sp>
        <p:nvSpPr>
          <p:cNvPr id="4" name="Text 1"/>
          <p:cNvSpPr/>
          <p:nvPr/>
        </p:nvSpPr>
        <p:spPr>
          <a:xfrm>
            <a:off x="793790" y="481667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Fira Sans" pitchFamily="34" charset="0"/>
                <a:ea typeface="Fira Sans" pitchFamily="34" charset="-122"/>
                <a:cs typeface="Fira Sans" pitchFamily="34" charset="-120"/>
              </a:rPr>
              <a:t>Our cost per unit is ₹700 INR. The selling price is ₹1599 INR. That's a profit margin of ~56%. We project 10,000 units sold in 12 months. That's projected revenue of ₹15,990,000 INR.</a:t>
            </a:r>
            <a:endParaRPr lang="en-US" sz="1750" dirty="0"/>
          </a:p>
        </p:txBody>
      </p:sp>
      <p:sp>
        <p:nvSpPr>
          <p:cNvPr id="5" name="Text 2"/>
          <p:cNvSpPr/>
          <p:nvPr/>
        </p:nvSpPr>
        <p:spPr>
          <a:xfrm>
            <a:off x="793790" y="5910977"/>
            <a:ext cx="4120753" cy="748427"/>
          </a:xfrm>
          <a:prstGeom prst="rect">
            <a:avLst/>
          </a:prstGeom>
          <a:noFill/>
          <a:ln/>
        </p:spPr>
        <p:txBody>
          <a:bodyPr wrap="none" lIns="0" tIns="0" rIns="0" bIns="0" rtlCol="0" anchor="t"/>
          <a:lstStyle/>
          <a:p>
            <a:pPr marL="0" indent="0" algn="ctr">
              <a:lnSpc>
                <a:spcPts val="5850"/>
              </a:lnSpc>
              <a:buNone/>
            </a:pPr>
            <a:r>
              <a:rPr lang="en-US" sz="5850" dirty="0">
                <a:solidFill>
                  <a:srgbClr val="E0D6DE"/>
                </a:solidFill>
                <a:latin typeface="Fira Mono Medium" pitchFamily="34" charset="0"/>
                <a:ea typeface="Fira Mono Medium" pitchFamily="34" charset="-122"/>
                <a:cs typeface="Fira Mono Medium" pitchFamily="34" charset="-120"/>
              </a:rPr>
              <a:t>700</a:t>
            </a:r>
            <a:endParaRPr lang="en-US" sz="5850" dirty="0"/>
          </a:p>
        </p:txBody>
      </p:sp>
      <p:sp>
        <p:nvSpPr>
          <p:cNvPr id="6" name="Text 3"/>
          <p:cNvSpPr/>
          <p:nvPr/>
        </p:nvSpPr>
        <p:spPr>
          <a:xfrm>
            <a:off x="1436489" y="6942773"/>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Cost/Unit (INR)</a:t>
            </a:r>
            <a:endParaRPr lang="en-US" sz="2200" dirty="0"/>
          </a:p>
        </p:txBody>
      </p:sp>
      <p:sp>
        <p:nvSpPr>
          <p:cNvPr id="7" name="Text 4"/>
          <p:cNvSpPr/>
          <p:nvPr/>
        </p:nvSpPr>
        <p:spPr>
          <a:xfrm>
            <a:off x="5254704" y="5910977"/>
            <a:ext cx="4120872" cy="748427"/>
          </a:xfrm>
          <a:prstGeom prst="rect">
            <a:avLst/>
          </a:prstGeom>
          <a:noFill/>
          <a:ln/>
        </p:spPr>
        <p:txBody>
          <a:bodyPr wrap="none" lIns="0" tIns="0" rIns="0" bIns="0" rtlCol="0" anchor="t"/>
          <a:lstStyle/>
          <a:p>
            <a:pPr marL="0" indent="0" algn="ctr">
              <a:lnSpc>
                <a:spcPts val="5850"/>
              </a:lnSpc>
              <a:buNone/>
            </a:pPr>
            <a:r>
              <a:rPr lang="en-US" sz="5850" dirty="0">
                <a:solidFill>
                  <a:srgbClr val="E0D6DE"/>
                </a:solidFill>
                <a:latin typeface="Fira Mono Medium" pitchFamily="34" charset="0"/>
                <a:ea typeface="Fira Mono Medium" pitchFamily="34" charset="-122"/>
                <a:cs typeface="Fira Mono Medium" pitchFamily="34" charset="-120"/>
              </a:rPr>
              <a:t>1599</a:t>
            </a:r>
            <a:endParaRPr lang="en-US" sz="5850" dirty="0"/>
          </a:p>
        </p:txBody>
      </p:sp>
      <p:sp>
        <p:nvSpPr>
          <p:cNvPr id="8" name="Text 5"/>
          <p:cNvSpPr/>
          <p:nvPr/>
        </p:nvSpPr>
        <p:spPr>
          <a:xfrm>
            <a:off x="5699879" y="6942773"/>
            <a:ext cx="3230523" cy="354330"/>
          </a:xfrm>
          <a:prstGeom prst="rect">
            <a:avLst/>
          </a:prstGeom>
          <a:noFill/>
          <a:ln/>
        </p:spPr>
        <p:txBody>
          <a:bodyPr wrap="none" lIns="0" tIns="0" rIns="0" bIns="0" rtlCol="0" anchor="t"/>
          <a:lstStyle/>
          <a:p>
            <a:pPr marL="0" indent="0" algn="ctr">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Selling Price (INR)</a:t>
            </a:r>
            <a:endParaRPr lang="en-US" sz="2200" dirty="0"/>
          </a:p>
        </p:txBody>
      </p:sp>
      <p:sp>
        <p:nvSpPr>
          <p:cNvPr id="9" name="Text 6"/>
          <p:cNvSpPr/>
          <p:nvPr/>
        </p:nvSpPr>
        <p:spPr>
          <a:xfrm>
            <a:off x="9715738" y="5910977"/>
            <a:ext cx="4120753" cy="748427"/>
          </a:xfrm>
          <a:prstGeom prst="rect">
            <a:avLst/>
          </a:prstGeom>
          <a:noFill/>
          <a:ln/>
        </p:spPr>
        <p:txBody>
          <a:bodyPr wrap="none" lIns="0" tIns="0" rIns="0" bIns="0" rtlCol="0" anchor="t"/>
          <a:lstStyle/>
          <a:p>
            <a:pPr marL="0" indent="0" algn="ctr">
              <a:lnSpc>
                <a:spcPts val="5850"/>
              </a:lnSpc>
              <a:buNone/>
            </a:pPr>
            <a:r>
              <a:rPr lang="en-US" sz="5850" dirty="0">
                <a:solidFill>
                  <a:srgbClr val="E0D6DE"/>
                </a:solidFill>
                <a:latin typeface="Fira Mono Medium" pitchFamily="34" charset="0"/>
                <a:ea typeface="Fira Mono Medium" pitchFamily="34" charset="-122"/>
                <a:cs typeface="Fira Mono Medium" pitchFamily="34" charset="-120"/>
              </a:rPr>
              <a:t>56%</a:t>
            </a:r>
            <a:endParaRPr lang="en-US" sz="5850" dirty="0"/>
          </a:p>
        </p:txBody>
      </p:sp>
      <p:sp>
        <p:nvSpPr>
          <p:cNvPr id="10" name="Text 7"/>
          <p:cNvSpPr/>
          <p:nvPr/>
        </p:nvSpPr>
        <p:spPr>
          <a:xfrm>
            <a:off x="10358438" y="6942773"/>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Profit Margin</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73641" y="619006"/>
            <a:ext cx="7569517" cy="2108478"/>
          </a:xfrm>
          <a:prstGeom prst="rect">
            <a:avLst/>
          </a:prstGeom>
          <a:noFill/>
          <a:ln/>
        </p:spPr>
        <p:txBody>
          <a:bodyPr wrap="square" lIns="0" tIns="0" rIns="0" bIns="0" rtlCol="0" anchor="t"/>
          <a:lstStyle/>
          <a:p>
            <a:pPr marL="0" indent="0" algn="l">
              <a:lnSpc>
                <a:spcPts val="5500"/>
              </a:lnSpc>
              <a:buNone/>
            </a:pPr>
            <a:r>
              <a:rPr lang="en-US" sz="4400" dirty="0">
                <a:solidFill>
                  <a:srgbClr val="FBF3FA"/>
                </a:solidFill>
                <a:latin typeface="Fira Mono Medium" pitchFamily="34" charset="0"/>
                <a:ea typeface="Fira Mono Medium" pitchFamily="34" charset="-122"/>
                <a:cs typeface="Fira Mono Medium" pitchFamily="34" charset="-120"/>
              </a:rPr>
              <a:t>SipSync: Invest in Your Health, Invest in SipSync</a:t>
            </a:r>
            <a:endParaRPr lang="en-US" sz="4400" dirty="0"/>
          </a:p>
        </p:txBody>
      </p:sp>
      <p:sp>
        <p:nvSpPr>
          <p:cNvPr id="4" name="Text 1"/>
          <p:cNvSpPr/>
          <p:nvPr/>
        </p:nvSpPr>
        <p:spPr>
          <a:xfrm>
            <a:off x="6273641" y="3064907"/>
            <a:ext cx="7569517" cy="1079421"/>
          </a:xfrm>
          <a:prstGeom prst="rect">
            <a:avLst/>
          </a:prstGeom>
          <a:noFill/>
          <a:ln/>
        </p:spPr>
        <p:txBody>
          <a:bodyPr wrap="square" lIns="0" tIns="0" rIns="0" bIns="0" rtlCol="0" anchor="t"/>
          <a:lstStyle/>
          <a:p>
            <a:pPr marL="0" indent="0" algn="l">
              <a:lnSpc>
                <a:spcPts val="2800"/>
              </a:lnSpc>
              <a:buNone/>
            </a:pPr>
            <a:r>
              <a:rPr lang="en-US" sz="1750" dirty="0">
                <a:solidFill>
                  <a:srgbClr val="E0D6DE"/>
                </a:solidFill>
                <a:latin typeface="Fira Sans" pitchFamily="34" charset="0"/>
                <a:ea typeface="Fira Sans" pitchFamily="34" charset="-122"/>
                <a:cs typeface="Fira Sans" pitchFamily="34" charset="-120"/>
              </a:rPr>
              <a:t>SipSync offers personalized hydration. It can help you live a healthier lifestyle. Join us in revolutionizing hydration. Thank you - are there any questions?</a:t>
            </a:r>
            <a:endParaRPr lang="en-US" sz="1750" dirty="0"/>
          </a:p>
        </p:txBody>
      </p:sp>
      <p:sp>
        <p:nvSpPr>
          <p:cNvPr id="5" name="Shape 2"/>
          <p:cNvSpPr/>
          <p:nvPr/>
        </p:nvSpPr>
        <p:spPr>
          <a:xfrm>
            <a:off x="6273641" y="4397335"/>
            <a:ext cx="168712" cy="846177"/>
          </a:xfrm>
          <a:prstGeom prst="roundRect">
            <a:avLst>
              <a:gd name="adj" fmla="val 20000"/>
            </a:avLst>
          </a:prstGeom>
          <a:solidFill>
            <a:srgbClr val="2E2E2F"/>
          </a:solidFill>
          <a:ln/>
        </p:spPr>
        <p:txBody>
          <a:bodyPr/>
          <a:lstStyle/>
          <a:p>
            <a:endParaRPr lang="en-US"/>
          </a:p>
        </p:txBody>
      </p:sp>
      <p:sp>
        <p:nvSpPr>
          <p:cNvPr id="6" name="Text 3"/>
          <p:cNvSpPr/>
          <p:nvPr/>
        </p:nvSpPr>
        <p:spPr>
          <a:xfrm>
            <a:off x="6779776" y="4397335"/>
            <a:ext cx="2811899" cy="351472"/>
          </a:xfrm>
          <a:prstGeom prst="rect">
            <a:avLst/>
          </a:prstGeom>
          <a:noFill/>
          <a:ln/>
        </p:spPr>
        <p:txBody>
          <a:bodyPr wrap="non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Personalized</a:t>
            </a:r>
            <a:endParaRPr lang="en-US" sz="2200" dirty="0"/>
          </a:p>
        </p:txBody>
      </p:sp>
      <p:sp>
        <p:nvSpPr>
          <p:cNvPr id="7" name="Text 4"/>
          <p:cNvSpPr/>
          <p:nvPr/>
        </p:nvSpPr>
        <p:spPr>
          <a:xfrm>
            <a:off x="6779776" y="4883706"/>
            <a:ext cx="7063383" cy="359807"/>
          </a:xfrm>
          <a:prstGeom prst="rect">
            <a:avLst/>
          </a:prstGeom>
          <a:noFill/>
          <a:ln/>
        </p:spPr>
        <p:txBody>
          <a:bodyPr wrap="none" lIns="0" tIns="0" rIns="0" bIns="0" rtlCol="0" anchor="t"/>
          <a:lstStyle/>
          <a:p>
            <a:pPr marL="0" indent="0" algn="l">
              <a:lnSpc>
                <a:spcPts val="2800"/>
              </a:lnSpc>
              <a:buNone/>
            </a:pPr>
            <a:r>
              <a:rPr lang="en-US" sz="1750" dirty="0">
                <a:solidFill>
                  <a:srgbClr val="E0D6DE"/>
                </a:solidFill>
                <a:latin typeface="Fira Sans" pitchFamily="34" charset="0"/>
                <a:ea typeface="Fira Sans" pitchFamily="34" charset="-122"/>
                <a:cs typeface="Fira Sans" pitchFamily="34" charset="-120"/>
              </a:rPr>
              <a:t>For a healthier life</a:t>
            </a:r>
            <a:endParaRPr lang="en-US" sz="1750" dirty="0"/>
          </a:p>
        </p:txBody>
      </p:sp>
      <p:sp>
        <p:nvSpPr>
          <p:cNvPr id="8" name="Shape 5"/>
          <p:cNvSpPr/>
          <p:nvPr/>
        </p:nvSpPr>
        <p:spPr>
          <a:xfrm>
            <a:off x="6611064" y="5468422"/>
            <a:ext cx="168712" cy="846177"/>
          </a:xfrm>
          <a:prstGeom prst="roundRect">
            <a:avLst>
              <a:gd name="adj" fmla="val 20000"/>
            </a:avLst>
          </a:prstGeom>
          <a:solidFill>
            <a:srgbClr val="2E2E2F"/>
          </a:solidFill>
          <a:ln/>
        </p:spPr>
        <p:txBody>
          <a:bodyPr/>
          <a:lstStyle/>
          <a:p>
            <a:endParaRPr lang="en-US"/>
          </a:p>
        </p:txBody>
      </p:sp>
      <p:sp>
        <p:nvSpPr>
          <p:cNvPr id="9" name="Text 6"/>
          <p:cNvSpPr/>
          <p:nvPr/>
        </p:nvSpPr>
        <p:spPr>
          <a:xfrm>
            <a:off x="7117199" y="5468422"/>
            <a:ext cx="2811899" cy="351472"/>
          </a:xfrm>
          <a:prstGeom prst="rect">
            <a:avLst/>
          </a:prstGeom>
          <a:noFill/>
          <a:ln/>
        </p:spPr>
        <p:txBody>
          <a:bodyPr wrap="non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Revolutionizing</a:t>
            </a:r>
            <a:endParaRPr lang="en-US" sz="2200" dirty="0"/>
          </a:p>
        </p:txBody>
      </p:sp>
      <p:sp>
        <p:nvSpPr>
          <p:cNvPr id="10" name="Text 7"/>
          <p:cNvSpPr/>
          <p:nvPr/>
        </p:nvSpPr>
        <p:spPr>
          <a:xfrm>
            <a:off x="7117199" y="5954792"/>
            <a:ext cx="6725960" cy="359807"/>
          </a:xfrm>
          <a:prstGeom prst="rect">
            <a:avLst/>
          </a:prstGeom>
          <a:noFill/>
          <a:ln/>
        </p:spPr>
        <p:txBody>
          <a:bodyPr wrap="none" lIns="0" tIns="0" rIns="0" bIns="0" rtlCol="0" anchor="t"/>
          <a:lstStyle/>
          <a:p>
            <a:pPr marL="0" indent="0" algn="l">
              <a:lnSpc>
                <a:spcPts val="2800"/>
              </a:lnSpc>
              <a:buNone/>
            </a:pPr>
            <a:r>
              <a:rPr lang="en-US" sz="1750" dirty="0">
                <a:solidFill>
                  <a:srgbClr val="E0D6DE"/>
                </a:solidFill>
                <a:latin typeface="Fira Sans" pitchFamily="34" charset="0"/>
                <a:ea typeface="Fira Sans" pitchFamily="34" charset="-122"/>
                <a:cs typeface="Fira Sans" pitchFamily="34" charset="-120"/>
              </a:rPr>
              <a:t>The way people hydrate</a:t>
            </a:r>
            <a:endParaRPr lang="en-US" sz="1750" dirty="0"/>
          </a:p>
        </p:txBody>
      </p:sp>
      <p:sp>
        <p:nvSpPr>
          <p:cNvPr id="11" name="Shape 8"/>
          <p:cNvSpPr/>
          <p:nvPr/>
        </p:nvSpPr>
        <p:spPr>
          <a:xfrm>
            <a:off x="6948488" y="6539508"/>
            <a:ext cx="168712" cy="846177"/>
          </a:xfrm>
          <a:prstGeom prst="roundRect">
            <a:avLst>
              <a:gd name="adj" fmla="val 20000"/>
            </a:avLst>
          </a:prstGeom>
          <a:solidFill>
            <a:srgbClr val="2E2E2F"/>
          </a:solidFill>
          <a:ln/>
        </p:spPr>
        <p:txBody>
          <a:bodyPr/>
          <a:lstStyle/>
          <a:p>
            <a:endParaRPr lang="en-US"/>
          </a:p>
        </p:txBody>
      </p:sp>
      <p:sp>
        <p:nvSpPr>
          <p:cNvPr id="12" name="Text 9"/>
          <p:cNvSpPr/>
          <p:nvPr/>
        </p:nvSpPr>
        <p:spPr>
          <a:xfrm>
            <a:off x="7454622" y="6539508"/>
            <a:ext cx="2811899" cy="351472"/>
          </a:xfrm>
          <a:prstGeom prst="rect">
            <a:avLst/>
          </a:prstGeom>
          <a:noFill/>
          <a:ln/>
        </p:spPr>
        <p:txBody>
          <a:bodyPr wrap="none" lIns="0" tIns="0" rIns="0" bIns="0" rtlCol="0" anchor="t"/>
          <a:lstStyle/>
          <a:p>
            <a:pPr marL="0" indent="0" algn="l">
              <a:lnSpc>
                <a:spcPts val="2750"/>
              </a:lnSpc>
              <a:buNone/>
            </a:pPr>
            <a:r>
              <a:rPr lang="en-US" sz="2200" dirty="0">
                <a:solidFill>
                  <a:srgbClr val="E0D6DE"/>
                </a:solidFill>
                <a:latin typeface="Fira Mono Medium" pitchFamily="34" charset="0"/>
                <a:ea typeface="Fira Mono Medium" pitchFamily="34" charset="-122"/>
                <a:cs typeface="Fira Mono Medium" pitchFamily="34" charset="-120"/>
              </a:rPr>
              <a:t>Q&amp;A</a:t>
            </a:r>
            <a:endParaRPr lang="en-US" sz="2200" dirty="0"/>
          </a:p>
        </p:txBody>
      </p:sp>
      <p:sp>
        <p:nvSpPr>
          <p:cNvPr id="13" name="Text 10"/>
          <p:cNvSpPr/>
          <p:nvPr/>
        </p:nvSpPr>
        <p:spPr>
          <a:xfrm>
            <a:off x="7454622" y="7025878"/>
            <a:ext cx="6388537" cy="359807"/>
          </a:xfrm>
          <a:prstGeom prst="rect">
            <a:avLst/>
          </a:prstGeom>
          <a:noFill/>
          <a:ln/>
        </p:spPr>
        <p:txBody>
          <a:bodyPr wrap="none" lIns="0" tIns="0" rIns="0" bIns="0" rtlCol="0" anchor="t"/>
          <a:lstStyle/>
          <a:p>
            <a:pPr marL="0" indent="0" algn="l">
              <a:lnSpc>
                <a:spcPts val="2800"/>
              </a:lnSpc>
              <a:buNone/>
            </a:pPr>
            <a:r>
              <a:rPr lang="en-US" sz="1750" dirty="0">
                <a:solidFill>
                  <a:srgbClr val="E0D6DE"/>
                </a:solidFill>
                <a:latin typeface="Fira Sans" pitchFamily="34" charset="0"/>
                <a:ea typeface="Fira Sans" pitchFamily="34" charset="-122"/>
                <a:cs typeface="Fira Sans" pitchFamily="34" charset="-120"/>
              </a:rPr>
              <a:t>We're here to help!</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454</Words>
  <Application>Microsoft Office PowerPoint</Application>
  <PresentationFormat>Custom</PresentationFormat>
  <Paragraphs>68</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Fira Sans Bold</vt:lpstr>
      <vt:lpstr>Arial</vt:lpstr>
      <vt:lpstr>Fira Sans</vt:lpstr>
      <vt:lpstr>Fira Sans Medium</vt:lpstr>
      <vt:lpstr>Fira Mono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RION RISHI ALPHONSO .</cp:lastModifiedBy>
  <cp:revision>2</cp:revision>
  <dcterms:created xsi:type="dcterms:W3CDTF">2025-04-17T10:11:25Z</dcterms:created>
  <dcterms:modified xsi:type="dcterms:W3CDTF">2025-04-17T10:33:07Z</dcterms:modified>
</cp:coreProperties>
</file>